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C2E2F5-5C77-8E06-169B-F2E2DADDBFEE}" v="141" dt="2026-01-21T07:35:04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42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65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95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0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73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4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1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46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374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56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4692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‹Nr.›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703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39" r:id="rId6"/>
    <p:sldLayoutId id="2147483735" r:id="rId7"/>
    <p:sldLayoutId id="2147483736" r:id="rId8"/>
    <p:sldLayoutId id="2147483737" r:id="rId9"/>
    <p:sldLayoutId id="2147483738" r:id="rId10"/>
    <p:sldLayoutId id="214748374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Zeitschriftendruckvorgang">
            <a:extLst>
              <a:ext uri="{FF2B5EF4-FFF2-40B4-BE49-F238E27FC236}">
                <a16:creationId xmlns:a16="http://schemas.microsoft.com/office/drawing/2014/main" id="{DE408135-CB9E-D329-4966-7A48B8538E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689" r="9091" b="5033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0" name="Rectangle 15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de-DE" sz="4200" dirty="0">
                <a:solidFill>
                  <a:srgbClr val="FFFFFF"/>
                </a:solidFill>
              </a:rPr>
              <a:t>Technische Sicherheit Maßnahmen bei Drucker, Kopierer und Multifunktionsgeräte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sz="2000">
                <a:solidFill>
                  <a:srgbClr val="FFFFFF"/>
                </a:solidFill>
              </a:rPr>
              <a:t>Francesco, Julian und Leonard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7499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CD57F5-6251-4B4C-8993-ECF60BF4B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>
                <a:ea typeface="+mj-lt"/>
                <a:cs typeface="+mj-lt"/>
              </a:rPr>
              <a:t>Geräteschutz und Administration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8FCF6B-B0D1-D162-BEB5-DEA936E63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Änderung von Standardpasswörtern: </a:t>
            </a:r>
            <a:r>
              <a:rPr lang="de-DE" dirty="0">
                <a:ea typeface="+mn-lt"/>
                <a:cs typeface="+mn-lt"/>
              </a:rPr>
              <a:t>Sowohl das Administrator-Passwort für das Web-Interface als auch Passwörter für den Zugang am Display müssen individuell gesetzt sein.</a:t>
            </a:r>
          </a:p>
          <a:p>
            <a:r>
              <a:rPr lang="de-DE" b="1" dirty="0">
                <a:ea typeface="+mn-lt"/>
                <a:cs typeface="+mn-lt"/>
              </a:rPr>
              <a:t>Firmware-Management:</a:t>
            </a:r>
            <a:r>
              <a:rPr lang="de-DE" dirty="0">
                <a:ea typeface="+mn-lt"/>
                <a:cs typeface="+mn-lt"/>
              </a:rPr>
              <a:t> Regelmäßige Updates schließen Sicherheitslücken.</a:t>
            </a:r>
          </a:p>
          <a:p>
            <a:r>
              <a:rPr lang="de-DE" b="1" dirty="0">
                <a:ea typeface="+mn-lt"/>
                <a:cs typeface="+mn-lt"/>
              </a:rPr>
              <a:t>Deaktivierung nicht benötigter Dienste:</a:t>
            </a:r>
            <a:r>
              <a:rPr lang="de-DE" dirty="0">
                <a:ea typeface="+mn-lt"/>
                <a:cs typeface="+mn-lt"/>
              </a:rPr>
              <a:t> Schalten Sie Protokolle und Schnittstellen ab, die nicht genutzt werden (z. B. FTP, Telnet, SNMPv1/v2, USB-Ports oder WLAN-</a:t>
            </a:r>
            <a:r>
              <a:rPr lang="de-DE" dirty="0" err="1">
                <a:ea typeface="+mn-lt"/>
                <a:cs typeface="+mn-lt"/>
              </a:rPr>
              <a:t>Direct</a:t>
            </a:r>
            <a:r>
              <a:rPr lang="de-DE" dirty="0">
                <a:ea typeface="+mn-lt"/>
                <a:cs typeface="+mn-lt"/>
              </a:rPr>
              <a:t>).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4493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0CBE99-280D-B033-6A14-9C3AFF95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Netzwerksicherheit</a:t>
            </a:r>
          </a:p>
          <a:p>
            <a:pPr marL="285750" indent="-285750">
              <a:buFont typeface="Arial"/>
              <a:buChar char="•"/>
            </a:pPr>
            <a:endParaRPr lang="de-DE"/>
          </a:p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8E304E-7B35-3375-C9A5-011A2E2B2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Netzwerksegmentierung:</a:t>
            </a:r>
            <a:r>
              <a:rPr lang="de-DE" dirty="0">
                <a:ea typeface="+mn-lt"/>
                <a:cs typeface="+mn-lt"/>
              </a:rPr>
              <a:t> Betreiben Sie Drucker in einem eigenen VLAN, das vom restlichen Client-Netz isoliert ist.</a:t>
            </a:r>
          </a:p>
          <a:p>
            <a:r>
              <a:rPr lang="de-DE" b="1" dirty="0">
                <a:ea typeface="+mn-lt"/>
                <a:cs typeface="+mn-lt"/>
              </a:rPr>
              <a:t>Verschlüsselte Übertragung:</a:t>
            </a:r>
            <a:r>
              <a:rPr lang="de-DE" dirty="0">
                <a:ea typeface="+mn-lt"/>
                <a:cs typeface="+mn-lt"/>
              </a:rPr>
              <a:t> Nutzen Sie für die Kommunikation zwischen PC und Drucker ausschließlich verschlüsselte Protokolle wie </a:t>
            </a:r>
            <a:r>
              <a:rPr lang="de-DE" b="1" dirty="0">
                <a:ea typeface="+mn-lt"/>
                <a:cs typeface="+mn-lt"/>
              </a:rPr>
              <a:t>IPPS (HTTPS)</a:t>
            </a:r>
            <a:r>
              <a:rPr lang="de-DE" dirty="0">
                <a:ea typeface="+mn-lt"/>
                <a:cs typeface="+mn-lt"/>
              </a:rPr>
              <a:t> oder </a:t>
            </a:r>
            <a:r>
              <a:rPr lang="de-DE" b="1" dirty="0" err="1">
                <a:ea typeface="+mn-lt"/>
                <a:cs typeface="+mn-lt"/>
              </a:rPr>
              <a:t>IPsec</a:t>
            </a:r>
          </a:p>
          <a:p>
            <a:r>
              <a:rPr lang="de-DE" b="1" dirty="0">
                <a:ea typeface="+mn-lt"/>
                <a:cs typeface="+mn-lt"/>
              </a:rPr>
              <a:t>Port-Sperrung:</a:t>
            </a:r>
            <a:r>
              <a:rPr lang="de-DE" dirty="0">
                <a:ea typeface="+mn-lt"/>
                <a:cs typeface="+mn-lt"/>
              </a:rPr>
              <a:t> Schließen Sie alle Ports am Gerät, die für den regulären Betrieb nicht zwingend erforderlich sind.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279420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92F49-A876-4E36-293B-A982FAF9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0" dirty="0">
                <a:ea typeface="+mj-lt"/>
                <a:cs typeface="+mj-lt"/>
              </a:rPr>
              <a:t>Datenschutz am Gerät (Data at Rest)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4FD0AD-F2B6-8572-489F-82676F109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de-DE" b="1" dirty="0">
                <a:ea typeface="+mn-lt"/>
                <a:cs typeface="+mn-lt"/>
              </a:rPr>
              <a:t>Festplattenverschlüsselung:</a:t>
            </a:r>
            <a:r>
              <a:rPr lang="de-DE" dirty="0">
                <a:ea typeface="+mn-lt"/>
                <a:cs typeface="+mn-lt"/>
              </a:rPr>
              <a:t> Alle auf dem internen Speicher abgelegten Daten (Druckaufträge, Scans) sollten verschlüsselt werden</a:t>
            </a:r>
          </a:p>
          <a:p>
            <a:r>
              <a:rPr lang="de-DE" b="1" dirty="0">
                <a:ea typeface="+mn-lt"/>
                <a:cs typeface="+mn-lt"/>
              </a:rPr>
              <a:t>Sicheres Löschen (Data </a:t>
            </a:r>
            <a:r>
              <a:rPr lang="de-DE" b="1" dirty="0" err="1">
                <a:ea typeface="+mn-lt"/>
                <a:cs typeface="+mn-lt"/>
              </a:rPr>
              <a:t>Overwrite</a:t>
            </a:r>
            <a:r>
              <a:rPr lang="de-DE" b="1" dirty="0">
                <a:ea typeface="+mn-lt"/>
                <a:cs typeface="+mn-lt"/>
              </a:rPr>
              <a:t>):</a:t>
            </a:r>
            <a:r>
              <a:rPr lang="de-DE" dirty="0">
                <a:ea typeface="+mn-lt"/>
                <a:cs typeface="+mn-lt"/>
              </a:rPr>
              <a:t> Konfigurieren Sie das Gerät so, dass temporär gespeicherte Daten nach dem Druckvorgang sofort mehrfach mit Zufallswerten überschrieben werden.</a:t>
            </a:r>
          </a:p>
          <a:p>
            <a:r>
              <a:rPr lang="de-DE" b="1" dirty="0" err="1">
                <a:ea typeface="+mn-lt"/>
                <a:cs typeface="+mn-lt"/>
              </a:rPr>
              <a:t>Trusted</a:t>
            </a:r>
            <a:r>
              <a:rPr lang="de-DE" b="1" dirty="0">
                <a:ea typeface="+mn-lt"/>
                <a:cs typeface="+mn-lt"/>
              </a:rPr>
              <a:t> </a:t>
            </a:r>
            <a:r>
              <a:rPr lang="de-DE" b="1" dirty="0" err="1">
                <a:ea typeface="+mn-lt"/>
                <a:cs typeface="+mn-lt"/>
              </a:rPr>
              <a:t>Platform</a:t>
            </a:r>
            <a:r>
              <a:rPr lang="de-DE" b="1" dirty="0">
                <a:ea typeface="+mn-lt"/>
                <a:cs typeface="+mn-lt"/>
              </a:rPr>
              <a:t> Module (TPM):</a:t>
            </a:r>
            <a:r>
              <a:rPr lang="de-DE" dirty="0">
                <a:ea typeface="+mn-lt"/>
                <a:cs typeface="+mn-lt"/>
              </a:rPr>
              <a:t> Nutzen Sie Geräte mit TPM-Chips, die kryptografische Schlüssel sicher in einer separaten Hardware-Einheit speichern.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722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829677-B3B6-2223-DAEF-E19851A38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Zugriffskontrolle und Benutzerauthentifizierung</a:t>
            </a:r>
          </a:p>
          <a:p>
            <a:pPr marL="285750" indent="-285750">
              <a:buFont typeface="Arial"/>
              <a:buChar char="•"/>
            </a:pPr>
            <a:endParaRPr lang="de-DE"/>
          </a:p>
          <a:p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1D12BB-F8C9-0C81-A8BA-DE886CD03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59661"/>
            <a:ext cx="10890928" cy="421314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de-DE" b="1" dirty="0">
                <a:ea typeface="+mn-lt"/>
                <a:cs typeface="+mn-lt"/>
              </a:rPr>
              <a:t>Pull-Printing (Secure Release):</a:t>
            </a:r>
            <a:r>
              <a:rPr lang="de-DE" dirty="0">
                <a:ea typeface="+mn-lt"/>
                <a:cs typeface="+mn-lt"/>
              </a:rPr>
              <a:t> Druckaufträge werden erst gedruckt, wenn sich der Benutzer direkt am Gerät authentifiziert (per PIN, RFID-Karte oder Smartphone).</a:t>
            </a:r>
            <a:endParaRPr lang="de-DE">
              <a:ea typeface="+mn-lt"/>
              <a:cs typeface="+mn-lt"/>
            </a:endParaRPr>
          </a:p>
          <a:p>
            <a:r>
              <a:rPr lang="de-DE" b="1" dirty="0">
                <a:ea typeface="+mn-lt"/>
                <a:cs typeface="+mn-lt"/>
              </a:rPr>
              <a:t>Zentrale Benutzerverwaltung:</a:t>
            </a:r>
            <a:r>
              <a:rPr lang="de-DE" dirty="0">
                <a:ea typeface="+mn-lt"/>
                <a:cs typeface="+mn-lt"/>
              </a:rPr>
              <a:t> Binden Sie die Geräte an bestehende Verzeichnisdienste wie </a:t>
            </a:r>
            <a:r>
              <a:rPr lang="de-DE" b="1" dirty="0" err="1">
                <a:ea typeface="+mn-lt"/>
                <a:cs typeface="+mn-lt"/>
              </a:rPr>
              <a:t>Active</a:t>
            </a:r>
            <a:r>
              <a:rPr lang="de-DE" b="1" dirty="0">
                <a:ea typeface="+mn-lt"/>
                <a:cs typeface="+mn-lt"/>
              </a:rPr>
              <a:t> Directory (LDAP)</a:t>
            </a:r>
            <a:r>
              <a:rPr lang="de-DE" dirty="0">
                <a:ea typeface="+mn-lt"/>
                <a:cs typeface="+mn-lt"/>
              </a:rPr>
              <a:t> an.</a:t>
            </a:r>
          </a:p>
          <a:p>
            <a:r>
              <a:rPr lang="de-DE" b="1" dirty="0">
                <a:ea typeface="+mn-lt"/>
                <a:cs typeface="+mn-lt"/>
              </a:rPr>
              <a:t>Eingeschränktes Adressbuch:</a:t>
            </a:r>
            <a:r>
              <a:rPr lang="de-DE" dirty="0">
                <a:ea typeface="+mn-lt"/>
                <a:cs typeface="+mn-lt"/>
              </a:rPr>
              <a:t> Nutzen Sie LDAP-Abfragen statt lokaler Adressbücher auf dem Gerät.</a:t>
            </a:r>
          </a:p>
          <a:p>
            <a:r>
              <a:rPr lang="de-DE" b="1" dirty="0">
                <a:ea typeface="+mn-lt"/>
                <a:cs typeface="+mn-lt"/>
              </a:rPr>
              <a:t>Audit-Logs:</a:t>
            </a:r>
            <a:r>
              <a:rPr lang="de-DE" dirty="0">
                <a:ea typeface="+mn-lt"/>
                <a:cs typeface="+mn-lt"/>
              </a:rPr>
              <a:t> Aktivieren Sie die Protokollierung aller Aktivitäten (wer hat wann was gedruckt/gescannt?).</a:t>
            </a:r>
          </a:p>
          <a:p>
            <a:r>
              <a:rPr lang="de-DE" b="1" dirty="0">
                <a:ea typeface="+mn-lt"/>
                <a:cs typeface="+mn-lt"/>
              </a:rPr>
              <a:t>SIEM-Integration:</a:t>
            </a:r>
            <a:r>
              <a:rPr lang="de-DE" dirty="0">
                <a:ea typeface="+mn-lt"/>
                <a:cs typeface="+mn-lt"/>
              </a:rPr>
              <a:t> Binden Sie die Druckerprotokolle in Ihr zentrales Sicherheits-Monitoring ein.</a:t>
            </a:r>
          </a:p>
        </p:txBody>
      </p:sp>
    </p:spTree>
    <p:extLst>
      <p:ext uri="{BB962C8B-B14F-4D97-AF65-F5344CB8AC3E}">
        <p14:creationId xmlns:p14="http://schemas.microsoft.com/office/powerpoint/2010/main" val="100270461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5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6" baseType="lpstr">
      <vt:lpstr>DashVTI</vt:lpstr>
      <vt:lpstr>Technische Sicherheit Maßnahmen bei Drucker, Kopierer und Multifunktionsgeräte</vt:lpstr>
      <vt:lpstr>Geräteschutz und Administration</vt:lpstr>
      <vt:lpstr>Netzwerksicherheit  </vt:lpstr>
      <vt:lpstr>Datenschutz am Gerät (Data at Rest)</vt:lpstr>
      <vt:lpstr>Zugriffskontrolle und Benutzerauthentifizierung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60</cp:revision>
  <dcterms:created xsi:type="dcterms:W3CDTF">2026-01-21T07:19:44Z</dcterms:created>
  <dcterms:modified xsi:type="dcterms:W3CDTF">2026-01-21T07:35:53Z</dcterms:modified>
</cp:coreProperties>
</file>